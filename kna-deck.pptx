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here has the same problem. The code outlives the people who wrote it, and the documentation stops being true long before anyone notices. Today the only reliable way to find out how something works is to read it, or to find the one person who knows and take an hour of their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points on the left are the differences from a general chatbot, and they are the reason this is safe to put in front of a team. The refusal one matters most: the system will decline rather than guess, because a confident wrong answer is what would stop anyone trusting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part for a security-minded audience is the caption. Analysis runs in CI, in a job that holds no credentials; a separate job holds the credential and runs none of the repository’s own code. Source upload is opt-in per repository and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the gaps — the second column is why. Python and C# get shallow analysis today, which means signatures as written rather than resolved types, and the system labels its own answers accordingly. The ask is deliberately small: one repository, two weeks, and a real answer at the end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1C"/>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300" kern="0" dirty="0">
                <a:solidFill>
                  <a:srgbClr val="E0A44C"/>
                </a:solidFill>
                <a:latin typeface="Calibri" pitchFamily="34" charset="0"/>
                <a:ea typeface="Calibri" pitchFamily="34" charset="-122"/>
                <a:cs typeface="Calibri" pitchFamily="34" charset="-120"/>
              </a:rPr>
              <a:t>KNA</a:t>
            </a:r>
            <a:endParaRPr lang="en-US" sz="1100" dirty="0"/>
          </a:p>
        </p:txBody>
      </p:sp>
      <p:sp>
        <p:nvSpPr>
          <p:cNvPr id="3" name="Text 1"/>
          <p:cNvSpPr txBox="1"/>
          <p:nvPr/>
        </p:nvSpPr>
        <p:spPr>
          <a:xfrm>
            <a:off x="640080" y="868680"/>
            <a:ext cx="8412480" cy="173736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mbria" pitchFamily="34" charset="0"/>
                <a:ea typeface="Cambria" pitchFamily="34" charset="-122"/>
                <a:cs typeface="Cambria" pitchFamily="34" charset="-120"/>
              </a:rPr>
              <a:t>Nobody knows how</a:t>
            </a:r>
            <a:endParaRPr lang="en-US" sz="4400" dirty="0"/>
          </a:p>
          <a:p>
            <a:pPr indent="0" marL="0">
              <a:lnSpc>
                <a:spcPct val="102000"/>
              </a:lnSpc>
              <a:buNone/>
            </a:pPr>
            <a:r>
              <a:rPr lang="en-US" sz="4400" b="1" dirty="0">
                <a:solidFill>
                  <a:srgbClr val="FFFFFF"/>
                </a:solidFill>
                <a:latin typeface="Cambria" pitchFamily="34" charset="0"/>
                <a:ea typeface="Cambria" pitchFamily="34" charset="-122"/>
                <a:cs typeface="Cambria" pitchFamily="34" charset="-120"/>
              </a:rPr>
              <a:t>our code works.</a:t>
            </a:r>
            <a:endParaRPr lang="en-US" sz="4400" dirty="0"/>
          </a:p>
        </p:txBody>
      </p:sp>
      <p:sp>
        <p:nvSpPr>
          <p:cNvPr id="4" name="Text 2"/>
          <p:cNvSpPr txBox="1"/>
          <p:nvPr/>
        </p:nvSpPr>
        <p:spPr>
          <a:xfrm>
            <a:off x="640080" y="2697480"/>
            <a:ext cx="7863840" cy="457200"/>
          </a:xfrm>
          <a:prstGeom prst="rect">
            <a:avLst/>
          </a:prstGeom>
          <a:noFill/>
          <a:ln/>
        </p:spPr>
        <p:txBody>
          <a:bodyPr wrap="square" lIns="0" tIns="0" rIns="0" bIns="0" rtlCol="0" anchor="ctr"/>
          <a:lstStyle/>
          <a:p>
            <a:pPr indent="0" marL="0">
              <a:buNone/>
            </a:pPr>
            <a:r>
              <a:rPr lang="en-US" sz="1700" dirty="0">
                <a:solidFill>
                  <a:srgbClr val="93A79F"/>
                </a:solidFill>
                <a:latin typeface="Calibri" pitchFamily="34" charset="0"/>
                <a:ea typeface="Calibri" pitchFamily="34" charset="-122"/>
                <a:cs typeface="Calibri" pitchFamily="34" charset="-120"/>
              </a:rPr>
              <a:t>Both ways of finding out are expensive — and one of them has a queue.</a:t>
            </a:r>
            <a:endParaRPr lang="en-US" sz="1700" dirty="0"/>
          </a:p>
        </p:txBody>
      </p:sp>
      <p:sp>
        <p:nvSpPr>
          <p:cNvPr id="5" name="Shape 3"/>
          <p:cNvSpPr/>
          <p:nvPr/>
        </p:nvSpPr>
        <p:spPr>
          <a:xfrm>
            <a:off x="640080" y="3520440"/>
            <a:ext cx="3410712" cy="2148840"/>
          </a:xfrm>
          <a:prstGeom prst="roundRect">
            <a:avLst>
              <a:gd name="adj" fmla="val 2553"/>
            </a:avLst>
          </a:prstGeom>
          <a:solidFill>
            <a:srgbClr val="17302B"/>
          </a:solidFill>
          <a:ln w="6350">
            <a:solidFill>
              <a:srgbClr val="17302B"/>
            </a:solidFill>
            <a:prstDash val="solid"/>
          </a:ln>
        </p:spPr>
      </p:sp>
      <p:sp>
        <p:nvSpPr>
          <p:cNvPr id="6" name="Text 4"/>
          <p:cNvSpPr txBox="1"/>
          <p:nvPr/>
        </p:nvSpPr>
        <p:spPr>
          <a:xfrm>
            <a:off x="969264" y="3703320"/>
            <a:ext cx="2743200" cy="868680"/>
          </a:xfrm>
          <a:prstGeom prst="rect">
            <a:avLst/>
          </a:prstGeom>
          <a:noFill/>
          <a:ln/>
        </p:spPr>
        <p:txBody>
          <a:bodyPr wrap="square" lIns="0" tIns="0" rIns="0" bIns="0" rtlCol="0" anchor="ctr"/>
          <a:lstStyle/>
          <a:p>
            <a:pPr indent="0" marL="0">
              <a:buNone/>
            </a:pPr>
            <a:r>
              <a:rPr lang="en-US" sz="4600" b="1" dirty="0">
                <a:solidFill>
                  <a:srgbClr val="E0A44C"/>
                </a:solidFill>
                <a:latin typeface="Cambria" pitchFamily="34" charset="0"/>
                <a:ea typeface="Cambria" pitchFamily="34" charset="-122"/>
                <a:cs typeface="Cambria" pitchFamily="34" charset="-120"/>
              </a:rPr>
              <a:t>40+</a:t>
            </a:r>
            <a:endParaRPr lang="en-US" sz="4600" dirty="0"/>
          </a:p>
        </p:txBody>
      </p:sp>
      <p:sp>
        <p:nvSpPr>
          <p:cNvPr id="7" name="Text 5"/>
          <p:cNvSpPr txBox="1"/>
          <p:nvPr/>
        </p:nvSpPr>
        <p:spPr>
          <a:xfrm>
            <a:off x="969264" y="4590288"/>
            <a:ext cx="27432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repositories</a:t>
            </a:r>
            <a:endParaRPr lang="en-US" sz="1500" dirty="0"/>
          </a:p>
        </p:txBody>
      </p:sp>
      <p:sp>
        <p:nvSpPr>
          <p:cNvPr id="8" name="Text 6"/>
          <p:cNvSpPr txBox="1"/>
          <p:nvPr/>
        </p:nvSpPr>
        <p:spPr>
          <a:xfrm>
            <a:off x="969264" y="4901184"/>
            <a:ext cx="2788920" cy="658368"/>
          </a:xfrm>
          <a:prstGeom prst="rect">
            <a:avLst/>
          </a:prstGeom>
          <a:noFill/>
          <a:ln/>
        </p:spPr>
        <p:txBody>
          <a:bodyPr wrap="square" lIns="0" tIns="0" rIns="0" bIns="0" rtlCol="0" anchor="ctr"/>
          <a:lstStyle/>
          <a:p>
            <a:pPr indent="0" marL="0">
              <a:buNone/>
            </a:pPr>
            <a:r>
              <a:rPr lang="en-US" sz="1200" dirty="0">
                <a:solidFill>
                  <a:srgbClr val="93A79F"/>
                </a:solidFill>
                <a:latin typeface="Calibri" pitchFamily="34" charset="0"/>
                <a:ea typeface="Calibri" pitchFamily="34" charset="-122"/>
                <a:cs typeface="Calibri" pitchFamily="34" charset="-120"/>
              </a:rPr>
              <a:t>most of them with no active owner</a:t>
            </a:r>
            <a:endParaRPr lang="en-US" sz="1200" dirty="0"/>
          </a:p>
        </p:txBody>
      </p:sp>
      <p:sp>
        <p:nvSpPr>
          <p:cNvPr id="9" name="Shape 7"/>
          <p:cNvSpPr/>
          <p:nvPr/>
        </p:nvSpPr>
        <p:spPr>
          <a:xfrm>
            <a:off x="4370832" y="3520440"/>
            <a:ext cx="3410712" cy="2148840"/>
          </a:xfrm>
          <a:prstGeom prst="roundRect">
            <a:avLst>
              <a:gd name="adj" fmla="val 2553"/>
            </a:avLst>
          </a:prstGeom>
          <a:solidFill>
            <a:srgbClr val="17302B"/>
          </a:solidFill>
          <a:ln w="6350">
            <a:solidFill>
              <a:srgbClr val="17302B"/>
            </a:solidFill>
            <a:prstDash val="solid"/>
          </a:ln>
        </p:spPr>
      </p:sp>
      <p:sp>
        <p:nvSpPr>
          <p:cNvPr id="10" name="Text 8"/>
          <p:cNvSpPr txBox="1"/>
          <p:nvPr/>
        </p:nvSpPr>
        <p:spPr>
          <a:xfrm>
            <a:off x="4700016" y="3703320"/>
            <a:ext cx="2743200" cy="868680"/>
          </a:xfrm>
          <a:prstGeom prst="rect">
            <a:avLst/>
          </a:prstGeom>
          <a:noFill/>
          <a:ln/>
        </p:spPr>
        <p:txBody>
          <a:bodyPr wrap="square" lIns="0" tIns="0" rIns="0" bIns="0" rtlCol="0" anchor="ctr"/>
          <a:lstStyle/>
          <a:p>
            <a:pPr indent="0" marL="0">
              <a:buNone/>
            </a:pPr>
            <a:r>
              <a:rPr lang="en-US" sz="4600" b="1" dirty="0">
                <a:solidFill>
                  <a:srgbClr val="E0A44C"/>
                </a:solidFill>
                <a:latin typeface="Cambria" pitchFamily="34" charset="0"/>
                <a:ea typeface="Cambria" pitchFamily="34" charset="-122"/>
                <a:cs typeface="Cambria" pitchFamily="34" charset="-120"/>
              </a:rPr>
              <a:t>2023</a:t>
            </a:r>
            <a:endParaRPr lang="en-US" sz="4600" dirty="0"/>
          </a:p>
        </p:txBody>
      </p:sp>
      <p:sp>
        <p:nvSpPr>
          <p:cNvPr id="11" name="Text 9"/>
          <p:cNvSpPr txBox="1"/>
          <p:nvPr/>
        </p:nvSpPr>
        <p:spPr>
          <a:xfrm>
            <a:off x="4700016" y="4590288"/>
            <a:ext cx="27432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documentation</a:t>
            </a:r>
            <a:endParaRPr lang="en-US" sz="1500" dirty="0"/>
          </a:p>
        </p:txBody>
      </p:sp>
      <p:sp>
        <p:nvSpPr>
          <p:cNvPr id="12" name="Text 10"/>
          <p:cNvSpPr txBox="1"/>
          <p:nvPr/>
        </p:nvSpPr>
        <p:spPr>
          <a:xfrm>
            <a:off x="4700016" y="4901184"/>
            <a:ext cx="2788920" cy="658368"/>
          </a:xfrm>
          <a:prstGeom prst="rect">
            <a:avLst/>
          </a:prstGeom>
          <a:noFill/>
          <a:ln/>
        </p:spPr>
        <p:txBody>
          <a:bodyPr wrap="square" lIns="0" tIns="0" rIns="0" bIns="0" rtlCol="0" anchor="ctr"/>
          <a:lstStyle/>
          <a:p>
            <a:pPr indent="0" marL="0">
              <a:buNone/>
            </a:pPr>
            <a:r>
              <a:rPr lang="en-US" sz="1200" dirty="0">
                <a:solidFill>
                  <a:srgbClr val="93A79F"/>
                </a:solidFill>
                <a:latin typeface="Calibri" pitchFamily="34" charset="0"/>
                <a:ea typeface="Calibri" pitchFamily="34" charset="-122"/>
                <a:cs typeface="Calibri" pitchFamily="34" charset="-120"/>
              </a:rPr>
              <a:t>the last time it was accurate</a:t>
            </a:r>
            <a:endParaRPr lang="en-US" sz="1200" dirty="0"/>
          </a:p>
        </p:txBody>
      </p:sp>
      <p:sp>
        <p:nvSpPr>
          <p:cNvPr id="13" name="Shape 11"/>
          <p:cNvSpPr/>
          <p:nvPr/>
        </p:nvSpPr>
        <p:spPr>
          <a:xfrm>
            <a:off x="8101584" y="3520440"/>
            <a:ext cx="3410712" cy="2148840"/>
          </a:xfrm>
          <a:prstGeom prst="roundRect">
            <a:avLst>
              <a:gd name="adj" fmla="val 2553"/>
            </a:avLst>
          </a:prstGeom>
          <a:solidFill>
            <a:srgbClr val="17302B"/>
          </a:solidFill>
          <a:ln w="6350">
            <a:solidFill>
              <a:srgbClr val="17302B"/>
            </a:solidFill>
            <a:prstDash val="solid"/>
          </a:ln>
        </p:spPr>
      </p:sp>
      <p:sp>
        <p:nvSpPr>
          <p:cNvPr id="14" name="Text 12"/>
          <p:cNvSpPr txBox="1"/>
          <p:nvPr/>
        </p:nvSpPr>
        <p:spPr>
          <a:xfrm>
            <a:off x="8430768" y="3703320"/>
            <a:ext cx="2743200" cy="868680"/>
          </a:xfrm>
          <a:prstGeom prst="rect">
            <a:avLst/>
          </a:prstGeom>
          <a:noFill/>
          <a:ln/>
        </p:spPr>
        <p:txBody>
          <a:bodyPr wrap="square" lIns="0" tIns="0" rIns="0" bIns="0" rtlCol="0" anchor="ctr"/>
          <a:lstStyle/>
          <a:p>
            <a:pPr indent="0" marL="0">
              <a:buNone/>
            </a:pPr>
            <a:r>
              <a:rPr lang="en-US" sz="4600" b="1" dirty="0">
                <a:solidFill>
                  <a:srgbClr val="E0A44C"/>
                </a:solidFill>
                <a:latin typeface="Cambria" pitchFamily="34" charset="0"/>
                <a:ea typeface="Cambria" pitchFamily="34" charset="-122"/>
                <a:cs typeface="Cambria" pitchFamily="34" charset="-120"/>
              </a:rPr>
              <a:t>1</a:t>
            </a:r>
            <a:endParaRPr lang="en-US" sz="4600" dirty="0"/>
          </a:p>
        </p:txBody>
      </p:sp>
      <p:sp>
        <p:nvSpPr>
          <p:cNvPr id="15" name="Text 13"/>
          <p:cNvSpPr txBox="1"/>
          <p:nvPr/>
        </p:nvSpPr>
        <p:spPr>
          <a:xfrm>
            <a:off x="8430768" y="4590288"/>
            <a:ext cx="27432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person</a:t>
            </a:r>
            <a:endParaRPr lang="en-US" sz="1500" dirty="0"/>
          </a:p>
        </p:txBody>
      </p:sp>
      <p:sp>
        <p:nvSpPr>
          <p:cNvPr id="16" name="Text 14"/>
          <p:cNvSpPr txBox="1"/>
          <p:nvPr/>
        </p:nvSpPr>
        <p:spPr>
          <a:xfrm>
            <a:off x="8430768" y="4901184"/>
            <a:ext cx="2788920" cy="658368"/>
          </a:xfrm>
          <a:prstGeom prst="rect">
            <a:avLst/>
          </a:prstGeom>
          <a:noFill/>
          <a:ln/>
        </p:spPr>
        <p:txBody>
          <a:bodyPr wrap="square" lIns="0" tIns="0" rIns="0" bIns="0" rtlCol="0" anchor="ctr"/>
          <a:lstStyle/>
          <a:p>
            <a:pPr indent="0" marL="0">
              <a:buNone/>
            </a:pPr>
            <a:r>
              <a:rPr lang="en-US" sz="1200" dirty="0">
                <a:solidFill>
                  <a:srgbClr val="93A79F"/>
                </a:solidFill>
                <a:latin typeface="Calibri" pitchFamily="34" charset="0"/>
                <a:ea typeface="Calibri" pitchFamily="34" charset="-122"/>
                <a:cs typeface="Calibri" pitchFamily="34" charset="-120"/>
              </a:rPr>
              <a:t>who remembers why billing retries three times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1"/>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685800"/>
          </a:xfrm>
          <a:prstGeom prst="rect">
            <a:avLst/>
          </a:prstGeom>
          <a:noFill/>
          <a:ln/>
        </p:spPr>
        <p:txBody>
          <a:bodyPr wrap="square" lIns="0" tIns="0" rIns="0" bIns="0" rtlCol="0" anchor="ctr"/>
          <a:lstStyle/>
          <a:p>
            <a:pPr indent="0" marL="0">
              <a:buNone/>
            </a:pPr>
            <a:r>
              <a:rPr lang="en-US" sz="3600" b="1" dirty="0">
                <a:solidFill>
                  <a:srgbClr val="0E1F1C"/>
                </a:solidFill>
                <a:latin typeface="Cambria" pitchFamily="34" charset="0"/>
                <a:ea typeface="Cambria" pitchFamily="34" charset="-122"/>
                <a:cs typeface="Cambria" pitchFamily="34" charset="-120"/>
              </a:rPr>
              <a:t>A search engine that has read our code</a:t>
            </a:r>
            <a:endParaRPr lang="en-US" sz="3600" dirty="0"/>
          </a:p>
        </p:txBody>
      </p:sp>
      <p:sp>
        <p:nvSpPr>
          <p:cNvPr id="3" name="Text 1"/>
          <p:cNvSpPr txBox="1"/>
          <p:nvPr/>
        </p:nvSpPr>
        <p:spPr>
          <a:xfrm>
            <a:off x="640080" y="1234440"/>
            <a:ext cx="7680960" cy="365760"/>
          </a:xfrm>
          <a:prstGeom prst="rect">
            <a:avLst/>
          </a:prstGeom>
          <a:noFill/>
          <a:ln/>
        </p:spPr>
        <p:txBody>
          <a:bodyPr wrap="square" lIns="0" tIns="0" rIns="0" bIns="0" rtlCol="0" anchor="ctr"/>
          <a:lstStyle/>
          <a:p>
            <a:pPr indent="0" marL="0">
              <a:buNone/>
            </a:pPr>
            <a:r>
              <a:rPr lang="en-US" sz="1600" dirty="0">
                <a:solidFill>
                  <a:srgbClr val="566964"/>
                </a:solidFill>
                <a:latin typeface="Calibri" pitchFamily="34" charset="0"/>
                <a:ea typeface="Calibri" pitchFamily="34" charset="-122"/>
                <a:cs typeface="Calibri" pitchFamily="34" charset="-120"/>
              </a:rPr>
              <a:t>Ask in plain English. Get an answer back with the exact file and line behind it.</a:t>
            </a:r>
            <a:endParaRPr lang="en-US" sz="1600" dirty="0"/>
          </a:p>
        </p:txBody>
      </p:sp>
      <p:sp>
        <p:nvSpPr>
          <p:cNvPr id="4" name="Shape 2"/>
          <p:cNvSpPr/>
          <p:nvPr/>
        </p:nvSpPr>
        <p:spPr>
          <a:xfrm>
            <a:off x="658368" y="1993392"/>
            <a:ext cx="310896" cy="310896"/>
          </a:xfrm>
          <a:prstGeom prst="ellipse">
            <a:avLst/>
          </a:prstGeom>
          <a:solidFill>
            <a:srgbClr val="F6E7CF"/>
          </a:solidFill>
          <a:ln w="19050">
            <a:solidFill>
              <a:srgbClr val="9C5C05"/>
            </a:solidFill>
            <a:prstDash val="solid"/>
          </a:ln>
        </p:spPr>
      </p:sp>
      <p:sp>
        <p:nvSpPr>
          <p:cNvPr id="5" name="Shape 3"/>
          <p:cNvSpPr/>
          <p:nvPr/>
        </p:nvSpPr>
        <p:spPr>
          <a:xfrm>
            <a:off x="763524" y="2098548"/>
            <a:ext cx="100584" cy="100584"/>
          </a:xfrm>
          <a:prstGeom prst="ellipse">
            <a:avLst/>
          </a:prstGeom>
          <a:solidFill>
            <a:srgbClr val="9C5C05"/>
          </a:solidFill>
          <a:ln w="6350">
            <a:solidFill>
              <a:srgbClr val="9C5C05"/>
            </a:solidFill>
            <a:prstDash val="solid"/>
          </a:ln>
        </p:spPr>
      </p:sp>
      <p:sp>
        <p:nvSpPr>
          <p:cNvPr id="6" name="Text 4"/>
          <p:cNvSpPr txBox="1"/>
          <p:nvPr/>
        </p:nvSpPr>
        <p:spPr>
          <a:xfrm>
            <a:off x="1170432" y="1965960"/>
            <a:ext cx="4754880" cy="292608"/>
          </a:xfrm>
          <a:prstGeom prst="rect">
            <a:avLst/>
          </a:prstGeom>
          <a:noFill/>
          <a:ln/>
        </p:spPr>
        <p:txBody>
          <a:bodyPr wrap="square" lIns="0" tIns="0" rIns="0" bIns="0" rtlCol="0" anchor="ctr"/>
          <a:lstStyle/>
          <a:p>
            <a:pPr indent="0" marL="0">
              <a:buNone/>
            </a:pPr>
            <a:r>
              <a:rPr lang="en-US" sz="1500" b="1" dirty="0">
                <a:solidFill>
                  <a:srgbClr val="0E1F1C"/>
                </a:solidFill>
                <a:latin typeface="Calibri" pitchFamily="34" charset="0"/>
                <a:ea typeface="Calibri" pitchFamily="34" charset="-122"/>
                <a:cs typeface="Calibri" pitchFamily="34" charset="-120"/>
              </a:rPr>
              <a:t>Only our code</a:t>
            </a:r>
            <a:endParaRPr lang="en-US" sz="1500" dirty="0"/>
          </a:p>
        </p:txBody>
      </p:sp>
      <p:sp>
        <p:nvSpPr>
          <p:cNvPr id="7" name="Text 5"/>
          <p:cNvSpPr txBox="1"/>
          <p:nvPr/>
        </p:nvSpPr>
        <p:spPr>
          <a:xfrm>
            <a:off x="1170432" y="2276856"/>
            <a:ext cx="4754880" cy="566928"/>
          </a:xfrm>
          <a:prstGeom prst="rect">
            <a:avLst/>
          </a:prstGeom>
          <a:noFill/>
          <a:ln/>
        </p:spPr>
        <p:txBody>
          <a:bodyPr wrap="square" lIns="0" tIns="0" rIns="0" bIns="0" rtlCol="0" anchor="ctr"/>
          <a:lstStyle/>
          <a:p>
            <a:pPr indent="0" marL="0">
              <a:buNone/>
            </a:pPr>
            <a:r>
              <a:rPr lang="en-US" sz="1250" dirty="0">
                <a:solidFill>
                  <a:srgbClr val="566964"/>
                </a:solidFill>
                <a:latin typeface="Calibri" pitchFamily="34" charset="0"/>
                <a:ea typeface="Calibri" pitchFamily="34" charset="-122"/>
                <a:cs typeface="Calibri" pitchFamily="34" charset="-120"/>
              </a:rPr>
              <a:t>Nothing borrowed from the internet. If it is not in our repositories, it has no answer.</a:t>
            </a:r>
            <a:endParaRPr lang="en-US" sz="1250" dirty="0"/>
          </a:p>
        </p:txBody>
      </p:sp>
      <p:sp>
        <p:nvSpPr>
          <p:cNvPr id="8" name="Shape 6"/>
          <p:cNvSpPr/>
          <p:nvPr/>
        </p:nvSpPr>
        <p:spPr>
          <a:xfrm>
            <a:off x="658368" y="2980944"/>
            <a:ext cx="310896" cy="310896"/>
          </a:xfrm>
          <a:prstGeom prst="ellipse">
            <a:avLst/>
          </a:prstGeom>
          <a:solidFill>
            <a:srgbClr val="F6E7CF"/>
          </a:solidFill>
          <a:ln w="19050">
            <a:solidFill>
              <a:srgbClr val="9C5C05"/>
            </a:solidFill>
            <a:prstDash val="solid"/>
          </a:ln>
        </p:spPr>
      </p:sp>
      <p:sp>
        <p:nvSpPr>
          <p:cNvPr id="9" name="Shape 7"/>
          <p:cNvSpPr/>
          <p:nvPr/>
        </p:nvSpPr>
        <p:spPr>
          <a:xfrm>
            <a:off x="763524" y="3086100"/>
            <a:ext cx="100584" cy="100584"/>
          </a:xfrm>
          <a:prstGeom prst="ellipse">
            <a:avLst/>
          </a:prstGeom>
          <a:solidFill>
            <a:srgbClr val="9C5C05"/>
          </a:solidFill>
          <a:ln w="6350">
            <a:solidFill>
              <a:srgbClr val="9C5C05"/>
            </a:solidFill>
            <a:prstDash val="solid"/>
          </a:ln>
        </p:spPr>
      </p:sp>
      <p:sp>
        <p:nvSpPr>
          <p:cNvPr id="10" name="Text 8"/>
          <p:cNvSpPr txBox="1"/>
          <p:nvPr/>
        </p:nvSpPr>
        <p:spPr>
          <a:xfrm>
            <a:off x="1170432" y="2953512"/>
            <a:ext cx="4754880" cy="292608"/>
          </a:xfrm>
          <a:prstGeom prst="rect">
            <a:avLst/>
          </a:prstGeom>
          <a:noFill/>
          <a:ln/>
        </p:spPr>
        <p:txBody>
          <a:bodyPr wrap="square" lIns="0" tIns="0" rIns="0" bIns="0" rtlCol="0" anchor="ctr"/>
          <a:lstStyle/>
          <a:p>
            <a:pPr indent="0" marL="0">
              <a:buNone/>
            </a:pPr>
            <a:r>
              <a:rPr lang="en-US" sz="1500" b="1" dirty="0">
                <a:solidFill>
                  <a:srgbClr val="0E1F1C"/>
                </a:solidFill>
                <a:latin typeface="Calibri" pitchFamily="34" charset="0"/>
                <a:ea typeface="Calibri" pitchFamily="34" charset="-122"/>
                <a:cs typeface="Calibri" pitchFamily="34" charset="-120"/>
              </a:rPr>
              <a:t>Every answer cites its source</a:t>
            </a:r>
            <a:endParaRPr lang="en-US" sz="1500" dirty="0"/>
          </a:p>
        </p:txBody>
      </p:sp>
      <p:sp>
        <p:nvSpPr>
          <p:cNvPr id="11" name="Text 9"/>
          <p:cNvSpPr txBox="1"/>
          <p:nvPr/>
        </p:nvSpPr>
        <p:spPr>
          <a:xfrm>
            <a:off x="1170432" y="3264408"/>
            <a:ext cx="4754880" cy="566928"/>
          </a:xfrm>
          <a:prstGeom prst="rect">
            <a:avLst/>
          </a:prstGeom>
          <a:noFill/>
          <a:ln/>
        </p:spPr>
        <p:txBody>
          <a:bodyPr wrap="square" lIns="0" tIns="0" rIns="0" bIns="0" rtlCol="0" anchor="ctr"/>
          <a:lstStyle/>
          <a:p>
            <a:pPr indent="0" marL="0">
              <a:buNone/>
            </a:pPr>
            <a:r>
              <a:rPr lang="en-US" sz="1250" dirty="0">
                <a:solidFill>
                  <a:srgbClr val="566964"/>
                </a:solidFill>
                <a:latin typeface="Calibri" pitchFamily="34" charset="0"/>
                <a:ea typeface="Calibri" pitchFamily="34" charset="-122"/>
                <a:cs typeface="Calibri" pitchFamily="34" charset="-120"/>
              </a:rPr>
              <a:t>A file and line for each claim, so anyone can check it in about five seconds.</a:t>
            </a:r>
            <a:endParaRPr lang="en-US" sz="1250" dirty="0"/>
          </a:p>
        </p:txBody>
      </p:sp>
      <p:sp>
        <p:nvSpPr>
          <p:cNvPr id="12" name="Shape 10"/>
          <p:cNvSpPr/>
          <p:nvPr/>
        </p:nvSpPr>
        <p:spPr>
          <a:xfrm>
            <a:off x="658368" y="3968496"/>
            <a:ext cx="310896" cy="310896"/>
          </a:xfrm>
          <a:prstGeom prst="ellipse">
            <a:avLst/>
          </a:prstGeom>
          <a:solidFill>
            <a:srgbClr val="F6E7CF"/>
          </a:solidFill>
          <a:ln w="19050">
            <a:solidFill>
              <a:srgbClr val="9C5C05"/>
            </a:solidFill>
            <a:prstDash val="solid"/>
          </a:ln>
        </p:spPr>
      </p:sp>
      <p:sp>
        <p:nvSpPr>
          <p:cNvPr id="13" name="Shape 11"/>
          <p:cNvSpPr/>
          <p:nvPr/>
        </p:nvSpPr>
        <p:spPr>
          <a:xfrm>
            <a:off x="763524" y="4073652"/>
            <a:ext cx="100584" cy="100584"/>
          </a:xfrm>
          <a:prstGeom prst="ellipse">
            <a:avLst/>
          </a:prstGeom>
          <a:solidFill>
            <a:srgbClr val="9C5C05"/>
          </a:solidFill>
          <a:ln w="6350">
            <a:solidFill>
              <a:srgbClr val="9C5C05"/>
            </a:solidFill>
            <a:prstDash val="solid"/>
          </a:ln>
        </p:spPr>
      </p:sp>
      <p:sp>
        <p:nvSpPr>
          <p:cNvPr id="14" name="Text 12"/>
          <p:cNvSpPr txBox="1"/>
          <p:nvPr/>
        </p:nvSpPr>
        <p:spPr>
          <a:xfrm>
            <a:off x="1170432" y="3941064"/>
            <a:ext cx="4754880" cy="292608"/>
          </a:xfrm>
          <a:prstGeom prst="rect">
            <a:avLst/>
          </a:prstGeom>
          <a:noFill/>
          <a:ln/>
        </p:spPr>
        <p:txBody>
          <a:bodyPr wrap="square" lIns="0" tIns="0" rIns="0" bIns="0" rtlCol="0" anchor="ctr"/>
          <a:lstStyle/>
          <a:p>
            <a:pPr indent="0" marL="0">
              <a:buNone/>
            </a:pPr>
            <a:r>
              <a:rPr lang="en-US" sz="1500" b="1" dirty="0">
                <a:solidFill>
                  <a:srgbClr val="0E1F1C"/>
                </a:solidFill>
                <a:latin typeface="Calibri" pitchFamily="34" charset="0"/>
                <a:ea typeface="Calibri" pitchFamily="34" charset="-122"/>
                <a:cs typeface="Calibri" pitchFamily="34" charset="-120"/>
              </a:rPr>
              <a:t>It refuses when the evidence is thin</a:t>
            </a:r>
            <a:endParaRPr lang="en-US" sz="1500" dirty="0"/>
          </a:p>
        </p:txBody>
      </p:sp>
      <p:sp>
        <p:nvSpPr>
          <p:cNvPr id="15" name="Text 13"/>
          <p:cNvSpPr txBox="1"/>
          <p:nvPr/>
        </p:nvSpPr>
        <p:spPr>
          <a:xfrm>
            <a:off x="1170432" y="4251960"/>
            <a:ext cx="4754880" cy="566928"/>
          </a:xfrm>
          <a:prstGeom prst="rect">
            <a:avLst/>
          </a:prstGeom>
          <a:noFill/>
          <a:ln/>
        </p:spPr>
        <p:txBody>
          <a:bodyPr wrap="square" lIns="0" tIns="0" rIns="0" bIns="0" rtlCol="0" anchor="ctr"/>
          <a:lstStyle/>
          <a:p>
            <a:pPr indent="0" marL="0">
              <a:buNone/>
            </a:pPr>
            <a:r>
              <a:rPr lang="en-US" sz="1250" dirty="0">
                <a:solidFill>
                  <a:srgbClr val="566964"/>
                </a:solidFill>
                <a:latin typeface="Calibri" pitchFamily="34" charset="0"/>
                <a:ea typeface="Calibri" pitchFamily="34" charset="-122"/>
                <a:cs typeface="Calibri" pitchFamily="34" charset="-120"/>
              </a:rPr>
              <a:t>A confident wrong answer about payment code is worse than no answer.</a:t>
            </a:r>
            <a:endParaRPr lang="en-US" sz="1250" dirty="0"/>
          </a:p>
        </p:txBody>
      </p:sp>
      <p:sp>
        <p:nvSpPr>
          <p:cNvPr id="16" name="Shape 14"/>
          <p:cNvSpPr/>
          <p:nvPr/>
        </p:nvSpPr>
        <p:spPr>
          <a:xfrm>
            <a:off x="658368" y="4956048"/>
            <a:ext cx="310896" cy="310896"/>
          </a:xfrm>
          <a:prstGeom prst="ellipse">
            <a:avLst/>
          </a:prstGeom>
          <a:solidFill>
            <a:srgbClr val="F6E7CF"/>
          </a:solidFill>
          <a:ln w="19050">
            <a:solidFill>
              <a:srgbClr val="9C5C05"/>
            </a:solidFill>
            <a:prstDash val="solid"/>
          </a:ln>
        </p:spPr>
      </p:sp>
      <p:sp>
        <p:nvSpPr>
          <p:cNvPr id="17" name="Shape 15"/>
          <p:cNvSpPr/>
          <p:nvPr/>
        </p:nvSpPr>
        <p:spPr>
          <a:xfrm>
            <a:off x="763524" y="5061204"/>
            <a:ext cx="100584" cy="100584"/>
          </a:xfrm>
          <a:prstGeom prst="ellipse">
            <a:avLst/>
          </a:prstGeom>
          <a:solidFill>
            <a:srgbClr val="9C5C05"/>
          </a:solidFill>
          <a:ln w="6350">
            <a:solidFill>
              <a:srgbClr val="9C5C05"/>
            </a:solidFill>
            <a:prstDash val="solid"/>
          </a:ln>
        </p:spPr>
      </p:sp>
      <p:sp>
        <p:nvSpPr>
          <p:cNvPr id="18" name="Text 16"/>
          <p:cNvSpPr txBox="1"/>
          <p:nvPr/>
        </p:nvSpPr>
        <p:spPr>
          <a:xfrm>
            <a:off x="1170432" y="4928616"/>
            <a:ext cx="4754880" cy="292608"/>
          </a:xfrm>
          <a:prstGeom prst="rect">
            <a:avLst/>
          </a:prstGeom>
          <a:noFill/>
          <a:ln/>
        </p:spPr>
        <p:txBody>
          <a:bodyPr wrap="square" lIns="0" tIns="0" rIns="0" bIns="0" rtlCol="0" anchor="ctr"/>
          <a:lstStyle/>
          <a:p>
            <a:pPr indent="0" marL="0">
              <a:buNone/>
            </a:pPr>
            <a:r>
              <a:rPr lang="en-US" sz="1500" b="1" dirty="0">
                <a:solidFill>
                  <a:srgbClr val="0E1F1C"/>
                </a:solidFill>
                <a:latin typeface="Calibri" pitchFamily="34" charset="0"/>
                <a:ea typeface="Calibri" pitchFamily="34" charset="-122"/>
                <a:cs typeface="Calibri" pitchFamily="34" charset="-120"/>
              </a:rPr>
              <a:t>It respects your permissions</a:t>
            </a:r>
            <a:endParaRPr lang="en-US" sz="1500" dirty="0"/>
          </a:p>
        </p:txBody>
      </p:sp>
      <p:sp>
        <p:nvSpPr>
          <p:cNvPr id="19" name="Text 17"/>
          <p:cNvSpPr txBox="1"/>
          <p:nvPr/>
        </p:nvSpPr>
        <p:spPr>
          <a:xfrm>
            <a:off x="1170432" y="5239512"/>
            <a:ext cx="4754880" cy="566928"/>
          </a:xfrm>
          <a:prstGeom prst="rect">
            <a:avLst/>
          </a:prstGeom>
          <a:noFill/>
          <a:ln/>
        </p:spPr>
        <p:txBody>
          <a:bodyPr wrap="square" lIns="0" tIns="0" rIns="0" bIns="0" rtlCol="0" anchor="ctr"/>
          <a:lstStyle/>
          <a:p>
            <a:pPr indent="0" marL="0">
              <a:buNone/>
            </a:pPr>
            <a:r>
              <a:rPr lang="en-US" sz="1250" dirty="0">
                <a:solidFill>
                  <a:srgbClr val="566964"/>
                </a:solidFill>
                <a:latin typeface="Calibri" pitchFamily="34" charset="0"/>
                <a:ea typeface="Calibri" pitchFamily="34" charset="-122"/>
                <a:cs typeface="Calibri" pitchFamily="34" charset="-120"/>
              </a:rPr>
              <a:t>Filtered in the database by who is asking, before anything is ranked.</a:t>
            </a:r>
            <a:endParaRPr lang="en-US" sz="1250" dirty="0"/>
          </a:p>
        </p:txBody>
      </p:sp>
      <p:sp>
        <p:nvSpPr>
          <p:cNvPr id="20" name="Shape 18"/>
          <p:cNvSpPr/>
          <p:nvPr/>
        </p:nvSpPr>
        <p:spPr>
          <a:xfrm>
            <a:off x="6537960" y="1965960"/>
            <a:ext cx="4983480" cy="3291840"/>
          </a:xfrm>
          <a:prstGeom prst="roundRect">
            <a:avLst>
              <a:gd name="adj" fmla="val 1389"/>
            </a:avLst>
          </a:prstGeom>
          <a:solidFill>
            <a:srgbClr val="FFFFFF"/>
          </a:solidFill>
          <a:ln w="12700">
            <a:solidFill>
              <a:srgbClr val="D2DBD8"/>
            </a:solidFill>
            <a:prstDash val="solid"/>
          </a:ln>
        </p:spPr>
      </p:sp>
      <p:sp>
        <p:nvSpPr>
          <p:cNvPr id="21" name="Text 19"/>
          <p:cNvSpPr txBox="1"/>
          <p:nvPr/>
        </p:nvSpPr>
        <p:spPr>
          <a:xfrm>
            <a:off x="6858000" y="2212848"/>
            <a:ext cx="4389120" cy="256032"/>
          </a:xfrm>
          <a:prstGeom prst="rect">
            <a:avLst/>
          </a:prstGeom>
          <a:noFill/>
          <a:ln/>
        </p:spPr>
        <p:txBody>
          <a:bodyPr wrap="square" lIns="0" tIns="0" rIns="0" bIns="0" rtlCol="0" anchor="ctr"/>
          <a:lstStyle/>
          <a:p>
            <a:pPr indent="0" marL="0">
              <a:buNone/>
            </a:pPr>
            <a:r>
              <a:rPr lang="en-US" sz="1000" b="1" spc="200" kern="0" dirty="0">
                <a:solidFill>
                  <a:srgbClr val="9C5C05"/>
                </a:solidFill>
                <a:latin typeface="Calibri" pitchFamily="34" charset="0"/>
                <a:ea typeface="Calibri" pitchFamily="34" charset="-122"/>
                <a:cs typeface="Calibri" pitchFamily="34" charset="-120"/>
              </a:rPr>
              <a:t>WHAT YOU GET BACK</a:t>
            </a:r>
            <a:endParaRPr lang="en-US" sz="1000" dirty="0"/>
          </a:p>
        </p:txBody>
      </p:sp>
      <p:sp>
        <p:nvSpPr>
          <p:cNvPr id="22" name="Text 20"/>
          <p:cNvSpPr txBox="1"/>
          <p:nvPr/>
        </p:nvSpPr>
        <p:spPr>
          <a:xfrm>
            <a:off x="6858000" y="2542032"/>
            <a:ext cx="4389120" cy="310896"/>
          </a:xfrm>
          <a:prstGeom prst="rect">
            <a:avLst/>
          </a:prstGeom>
          <a:noFill/>
          <a:ln/>
        </p:spPr>
        <p:txBody>
          <a:bodyPr wrap="square" lIns="0" tIns="0" rIns="0" bIns="0" rtlCol="0" anchor="ctr"/>
          <a:lstStyle/>
          <a:p>
            <a:pPr indent="0" marL="0">
              <a:buNone/>
            </a:pPr>
            <a:r>
              <a:rPr lang="en-US" sz="1400" i="1" dirty="0">
                <a:solidFill>
                  <a:srgbClr val="566964"/>
                </a:solidFill>
                <a:latin typeface="Calibri" pitchFamily="34" charset="0"/>
                <a:ea typeface="Calibri" pitchFamily="34" charset="-122"/>
                <a:cs typeface="Calibri" pitchFamily="34" charset="-120"/>
              </a:rPr>
              <a:t>“How does billing retry a failed charge?”</a:t>
            </a:r>
            <a:endParaRPr lang="en-US" sz="1400" dirty="0"/>
          </a:p>
        </p:txBody>
      </p:sp>
      <p:sp>
        <p:nvSpPr>
          <p:cNvPr id="23" name="Text 21"/>
          <p:cNvSpPr txBox="1"/>
          <p:nvPr/>
        </p:nvSpPr>
        <p:spPr>
          <a:xfrm>
            <a:off x="6858000" y="2999232"/>
            <a:ext cx="4389120" cy="914400"/>
          </a:xfrm>
          <a:prstGeom prst="rect">
            <a:avLst/>
          </a:prstGeom>
          <a:noFill/>
          <a:ln/>
        </p:spPr>
        <p:txBody>
          <a:bodyPr wrap="square" lIns="0" tIns="0" rIns="0" bIns="0" rtlCol="0" anchor="ctr"/>
          <a:lstStyle/>
          <a:p>
            <a:pPr indent="0" marL="0">
              <a:buNone/>
            </a:pPr>
            <a:r>
              <a:rPr lang="en-US" sz="1450" dirty="0">
                <a:solidFill>
                  <a:srgbClr val="0E1F1C"/>
                </a:solidFill>
                <a:latin typeface="Calibri" pitchFamily="34" charset="0"/>
                <a:ea typeface="Calibri" pitchFamily="34" charset="-122"/>
                <a:cs typeface="Calibri" pitchFamily="34" charset="-120"/>
              </a:rPr>
              <a:t>“It tries three times with a widening gap between attempts, then parks the charge in a queue for a human to look at.”</a:t>
            </a:r>
            <a:endParaRPr lang="en-US" sz="1450" dirty="0"/>
          </a:p>
        </p:txBody>
      </p:sp>
      <p:sp>
        <p:nvSpPr>
          <p:cNvPr id="24" name="Shape 22"/>
          <p:cNvSpPr/>
          <p:nvPr/>
        </p:nvSpPr>
        <p:spPr>
          <a:xfrm>
            <a:off x="6858000" y="4041648"/>
            <a:ext cx="4389120" cy="0"/>
          </a:xfrm>
          <a:prstGeom prst="line">
            <a:avLst/>
          </a:prstGeom>
          <a:noFill/>
          <a:ln w="12700">
            <a:solidFill>
              <a:srgbClr val="D2DBD8"/>
            </a:solidFill>
            <a:prstDash val="solid"/>
          </a:ln>
        </p:spPr>
      </p:sp>
      <p:sp>
        <p:nvSpPr>
          <p:cNvPr id="25" name="Shape 23"/>
          <p:cNvSpPr/>
          <p:nvPr/>
        </p:nvSpPr>
        <p:spPr>
          <a:xfrm>
            <a:off x="6858000" y="4224528"/>
            <a:ext cx="2514600" cy="384048"/>
          </a:xfrm>
          <a:prstGeom prst="roundRect">
            <a:avLst>
              <a:gd name="adj" fmla="val 11905"/>
            </a:avLst>
          </a:prstGeom>
          <a:solidFill>
            <a:srgbClr val="F6E7CF"/>
          </a:solidFill>
          <a:ln w="12700">
            <a:solidFill>
              <a:srgbClr val="9C5C05"/>
            </a:solidFill>
            <a:prstDash val="solid"/>
          </a:ln>
        </p:spPr>
      </p:sp>
      <p:sp>
        <p:nvSpPr>
          <p:cNvPr id="26" name="Text 24"/>
          <p:cNvSpPr txBox="1"/>
          <p:nvPr/>
        </p:nvSpPr>
        <p:spPr>
          <a:xfrm>
            <a:off x="6858000" y="4224528"/>
            <a:ext cx="2514600" cy="384048"/>
          </a:xfrm>
          <a:prstGeom prst="rect">
            <a:avLst/>
          </a:prstGeom>
          <a:noFill/>
          <a:ln/>
        </p:spPr>
        <p:txBody>
          <a:bodyPr wrap="square" lIns="0" tIns="0" rIns="0" bIns="0" rtlCol="0" anchor="ctr"/>
          <a:lstStyle/>
          <a:p>
            <a:pPr algn="ctr" indent="0" marL="0">
              <a:buNone/>
            </a:pPr>
            <a:r>
              <a:rPr lang="en-US" sz="1250" b="1" dirty="0">
                <a:solidFill>
                  <a:srgbClr val="9C5C05"/>
                </a:solidFill>
                <a:latin typeface="Calibri" pitchFamily="34" charset="0"/>
                <a:ea typeface="Calibri" pitchFamily="34" charset="-122"/>
                <a:cs typeface="Calibri" pitchFamily="34" charset="-120"/>
              </a:rPr>
              <a:t>billing/charge.ts:212</a:t>
            </a:r>
            <a:endParaRPr lang="en-US" sz="1250" dirty="0"/>
          </a:p>
        </p:txBody>
      </p:sp>
      <p:sp>
        <p:nvSpPr>
          <p:cNvPr id="27" name="Text 25"/>
          <p:cNvSpPr txBox="1"/>
          <p:nvPr/>
        </p:nvSpPr>
        <p:spPr>
          <a:xfrm>
            <a:off x="6858000" y="4681728"/>
            <a:ext cx="4389120" cy="292608"/>
          </a:xfrm>
          <a:prstGeom prst="rect">
            <a:avLst/>
          </a:prstGeom>
          <a:noFill/>
          <a:ln/>
        </p:spPr>
        <p:txBody>
          <a:bodyPr wrap="square" lIns="0" tIns="0" rIns="0" bIns="0" rtlCol="0" anchor="ctr"/>
          <a:lstStyle/>
          <a:p>
            <a:pPr indent="0" marL="0">
              <a:buNone/>
            </a:pPr>
            <a:r>
              <a:rPr lang="en-US" sz="1200" i="1" dirty="0">
                <a:solidFill>
                  <a:srgbClr val="566964"/>
                </a:solidFill>
                <a:latin typeface="Calibri" pitchFamily="34" charset="0"/>
                <a:ea typeface="Calibri" pitchFamily="34" charset="-122"/>
                <a:cs typeface="Calibri" pitchFamily="34" charset="-120"/>
              </a:rPr>
              <a:t>the exact line it read that from</a:t>
            </a:r>
            <a:endParaRPr lang="en-US" sz="1200" dirty="0"/>
          </a:p>
        </p:txBody>
      </p:sp>
      <p:sp>
        <p:nvSpPr>
          <p:cNvPr id="28" name="Text 26"/>
          <p:cNvSpPr txBox="1"/>
          <p:nvPr/>
        </p:nvSpPr>
        <p:spPr>
          <a:xfrm>
            <a:off x="1170432" y="5943600"/>
            <a:ext cx="4754880" cy="365760"/>
          </a:xfrm>
          <a:prstGeom prst="rect">
            <a:avLst/>
          </a:prstGeom>
          <a:noFill/>
          <a:ln/>
        </p:spPr>
        <p:txBody>
          <a:bodyPr wrap="square" lIns="0" tIns="0" rIns="0" bIns="0" rtlCol="0" anchor="ctr"/>
          <a:lstStyle/>
          <a:p>
            <a:pPr indent="0" marL="0">
              <a:buNone/>
            </a:pPr>
            <a:r>
              <a:rPr lang="en-US" sz="1250" dirty="0">
                <a:solidFill>
                  <a:srgbClr val="566964"/>
                </a:solidFill>
                <a:latin typeface="Calibri" pitchFamily="34" charset="0"/>
                <a:ea typeface="Calibri" pitchFamily="34" charset="-122"/>
                <a:cs typeface="Calibri" pitchFamily="34" charset="-120"/>
              </a:rPr>
              <a:t>Used from the editor, a terminal, or a browser — whichever you are already in.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1"/>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640080"/>
          </a:xfrm>
          <a:prstGeom prst="rect">
            <a:avLst/>
          </a:prstGeom>
          <a:noFill/>
          <a:ln/>
        </p:spPr>
        <p:txBody>
          <a:bodyPr wrap="square" lIns="0" tIns="0" rIns="0" bIns="0" rtlCol="0" anchor="ctr"/>
          <a:lstStyle/>
          <a:p>
            <a:pPr indent="0" marL="0">
              <a:buNone/>
            </a:pPr>
            <a:r>
              <a:rPr lang="en-US" sz="3600" b="1" dirty="0">
                <a:solidFill>
                  <a:srgbClr val="0E1F1C"/>
                </a:solidFill>
                <a:latin typeface="Cambria" pitchFamily="34" charset="0"/>
                <a:ea typeface="Cambria" pitchFamily="34" charset="-122"/>
                <a:cs typeface="Cambria" pitchFamily="34" charset="-120"/>
              </a:rPr>
              <a:t>Two paths, one index</a:t>
            </a:r>
            <a:endParaRPr lang="en-US" sz="3600" dirty="0"/>
          </a:p>
        </p:txBody>
      </p:sp>
      <p:sp>
        <p:nvSpPr>
          <p:cNvPr id="3" name="Shape 1"/>
          <p:cNvSpPr/>
          <p:nvPr/>
        </p:nvSpPr>
        <p:spPr>
          <a:xfrm>
            <a:off x="640080" y="2308860"/>
            <a:ext cx="2286000" cy="777240"/>
          </a:xfrm>
          <a:prstGeom prst="roundRect">
            <a:avLst>
              <a:gd name="adj" fmla="val 5882"/>
            </a:avLst>
          </a:prstGeom>
          <a:solidFill>
            <a:srgbClr val="FFFFFF"/>
          </a:solidFill>
          <a:ln w="12700">
            <a:solidFill>
              <a:srgbClr val="D2DBD8"/>
            </a:solidFill>
            <a:prstDash val="solid"/>
          </a:ln>
        </p:spPr>
      </p:sp>
      <p:sp>
        <p:nvSpPr>
          <p:cNvPr id="4" name="Text 2"/>
          <p:cNvSpPr txBox="1"/>
          <p:nvPr/>
        </p:nvSpPr>
        <p:spPr>
          <a:xfrm>
            <a:off x="822960" y="2432304"/>
            <a:ext cx="1920240" cy="274320"/>
          </a:xfrm>
          <a:prstGeom prst="rect">
            <a:avLst/>
          </a:prstGeom>
          <a:noFill/>
          <a:ln/>
        </p:spPr>
        <p:txBody>
          <a:bodyPr wrap="square" lIns="0" tIns="0" rIns="0" bIns="0" rtlCol="0" anchor="ctr"/>
          <a:lstStyle/>
          <a:p>
            <a:pPr indent="0" marL="0">
              <a:buNone/>
            </a:pPr>
            <a:r>
              <a:rPr lang="en-US" sz="1400" b="1" dirty="0">
                <a:solidFill>
                  <a:srgbClr val="0E1F1C"/>
                </a:solidFill>
                <a:latin typeface="Calibri" pitchFamily="34" charset="0"/>
                <a:ea typeface="Calibri" pitchFamily="34" charset="-122"/>
                <a:cs typeface="Calibri" pitchFamily="34" charset="-120"/>
              </a:rPr>
              <a:t>Our repositories</a:t>
            </a:r>
            <a:endParaRPr lang="en-US" sz="1400" dirty="0"/>
          </a:p>
        </p:txBody>
      </p:sp>
      <p:sp>
        <p:nvSpPr>
          <p:cNvPr id="5" name="Text 3"/>
          <p:cNvSpPr txBox="1"/>
          <p:nvPr/>
        </p:nvSpPr>
        <p:spPr>
          <a:xfrm>
            <a:off x="822960" y="2724912"/>
            <a:ext cx="1920240" cy="256032"/>
          </a:xfrm>
          <a:prstGeom prst="rect">
            <a:avLst/>
          </a:prstGeom>
          <a:noFill/>
          <a:ln/>
        </p:spPr>
        <p:txBody>
          <a:bodyPr wrap="square" lIns="0" tIns="0" rIns="0" bIns="0" rtlCol="0" anchor="ctr"/>
          <a:lstStyle/>
          <a:p>
            <a:pPr indent="0" marL="0">
              <a:buNone/>
            </a:pPr>
            <a:r>
              <a:rPr lang="en-US" sz="1200" dirty="0">
                <a:solidFill>
                  <a:srgbClr val="566964"/>
                </a:solidFill>
                <a:latin typeface="Calibri" pitchFamily="34" charset="0"/>
                <a:ea typeface="Calibri" pitchFamily="34" charset="-122"/>
                <a:cs typeface="Calibri" pitchFamily="34" charset="-120"/>
              </a:rPr>
              <a:t>GitHub</a:t>
            </a:r>
            <a:endParaRPr lang="en-US" sz="1200" dirty="0"/>
          </a:p>
        </p:txBody>
      </p:sp>
      <p:sp>
        <p:nvSpPr>
          <p:cNvPr id="6" name="Shape 4"/>
          <p:cNvSpPr/>
          <p:nvPr/>
        </p:nvSpPr>
        <p:spPr>
          <a:xfrm>
            <a:off x="640080" y="3406140"/>
            <a:ext cx="2286000" cy="777240"/>
          </a:xfrm>
          <a:prstGeom prst="roundRect">
            <a:avLst>
              <a:gd name="adj" fmla="val 5882"/>
            </a:avLst>
          </a:prstGeom>
          <a:solidFill>
            <a:srgbClr val="FFFFFF"/>
          </a:solidFill>
          <a:ln w="12700">
            <a:solidFill>
              <a:srgbClr val="D2DBD8"/>
            </a:solidFill>
            <a:prstDash val="solid"/>
          </a:ln>
        </p:spPr>
      </p:sp>
      <p:sp>
        <p:nvSpPr>
          <p:cNvPr id="7" name="Text 5"/>
          <p:cNvSpPr txBox="1"/>
          <p:nvPr/>
        </p:nvSpPr>
        <p:spPr>
          <a:xfrm>
            <a:off x="822960" y="3529584"/>
            <a:ext cx="1920240" cy="274320"/>
          </a:xfrm>
          <a:prstGeom prst="rect">
            <a:avLst/>
          </a:prstGeom>
          <a:noFill/>
          <a:ln/>
        </p:spPr>
        <p:txBody>
          <a:bodyPr wrap="square" lIns="0" tIns="0" rIns="0" bIns="0" rtlCol="0" anchor="ctr"/>
          <a:lstStyle/>
          <a:p>
            <a:pPr indent="0" marL="0">
              <a:buNone/>
            </a:pPr>
            <a:r>
              <a:rPr lang="en-US" sz="1400" b="1" dirty="0">
                <a:solidFill>
                  <a:srgbClr val="0E1F1C"/>
                </a:solidFill>
                <a:latin typeface="Calibri" pitchFamily="34" charset="0"/>
                <a:ea typeface="Calibri" pitchFamily="34" charset="-122"/>
                <a:cs typeface="Calibri" pitchFamily="34" charset="-120"/>
              </a:rPr>
              <a:t>A question</a:t>
            </a:r>
            <a:endParaRPr lang="en-US" sz="1400" dirty="0"/>
          </a:p>
        </p:txBody>
      </p:sp>
      <p:sp>
        <p:nvSpPr>
          <p:cNvPr id="8" name="Text 6"/>
          <p:cNvSpPr txBox="1"/>
          <p:nvPr/>
        </p:nvSpPr>
        <p:spPr>
          <a:xfrm>
            <a:off x="822960" y="3822192"/>
            <a:ext cx="2011680" cy="256032"/>
          </a:xfrm>
          <a:prstGeom prst="rect">
            <a:avLst/>
          </a:prstGeom>
          <a:noFill/>
          <a:ln/>
        </p:spPr>
        <p:txBody>
          <a:bodyPr wrap="square" lIns="0" tIns="0" rIns="0" bIns="0" rtlCol="0" anchor="ctr"/>
          <a:lstStyle/>
          <a:p>
            <a:pPr indent="0" marL="0">
              <a:buNone/>
            </a:pPr>
            <a:r>
              <a:rPr lang="en-US" sz="1200" dirty="0">
                <a:solidFill>
                  <a:srgbClr val="566964"/>
                </a:solidFill>
                <a:latin typeface="Calibri" pitchFamily="34" charset="0"/>
                <a:ea typeface="Calibri" pitchFamily="34" charset="-122"/>
                <a:cs typeface="Calibri" pitchFamily="34" charset="-120"/>
              </a:rPr>
              <a:t>from an editor or terminal</a:t>
            </a:r>
            <a:endParaRPr lang="en-US" sz="1200" dirty="0"/>
          </a:p>
        </p:txBody>
      </p:sp>
      <p:sp>
        <p:nvSpPr>
          <p:cNvPr id="9" name="Shape 7"/>
          <p:cNvSpPr/>
          <p:nvPr/>
        </p:nvSpPr>
        <p:spPr>
          <a:xfrm>
            <a:off x="4526280" y="2377440"/>
            <a:ext cx="2834640" cy="1737360"/>
          </a:xfrm>
          <a:prstGeom prst="roundRect">
            <a:avLst>
              <a:gd name="adj" fmla="val 2632"/>
            </a:avLst>
          </a:prstGeom>
          <a:solidFill>
            <a:srgbClr val="F6E7CF"/>
          </a:solidFill>
          <a:ln w="25400">
            <a:solidFill>
              <a:srgbClr val="9C5C05"/>
            </a:solidFill>
            <a:prstDash val="solid"/>
          </a:ln>
        </p:spPr>
      </p:sp>
      <p:sp>
        <p:nvSpPr>
          <p:cNvPr id="10" name="Text 8"/>
          <p:cNvSpPr txBox="1"/>
          <p:nvPr/>
        </p:nvSpPr>
        <p:spPr>
          <a:xfrm>
            <a:off x="4709160" y="2670048"/>
            <a:ext cx="2468880" cy="411480"/>
          </a:xfrm>
          <a:prstGeom prst="rect">
            <a:avLst/>
          </a:prstGeom>
          <a:noFill/>
          <a:ln/>
        </p:spPr>
        <p:txBody>
          <a:bodyPr wrap="square" lIns="0" tIns="0" rIns="0" bIns="0" rtlCol="0" anchor="ctr"/>
          <a:lstStyle/>
          <a:p>
            <a:pPr algn="ctr" indent="0" marL="0">
              <a:buNone/>
            </a:pPr>
            <a:r>
              <a:rPr lang="en-US" sz="2200" b="1" dirty="0">
                <a:solidFill>
                  <a:srgbClr val="0E1F1C"/>
                </a:solidFill>
                <a:latin typeface="Cambria" pitchFamily="34" charset="0"/>
                <a:ea typeface="Cambria" pitchFamily="34" charset="-122"/>
                <a:cs typeface="Cambria" pitchFamily="34" charset="-120"/>
              </a:rPr>
              <a:t>The index</a:t>
            </a:r>
            <a:endParaRPr lang="en-US" sz="2200" dirty="0"/>
          </a:p>
        </p:txBody>
      </p:sp>
      <p:sp>
        <p:nvSpPr>
          <p:cNvPr id="11" name="Text 9"/>
          <p:cNvSpPr txBox="1"/>
          <p:nvPr/>
        </p:nvSpPr>
        <p:spPr>
          <a:xfrm>
            <a:off x="4709160" y="3154680"/>
            <a:ext cx="2468880" cy="640080"/>
          </a:xfrm>
          <a:prstGeom prst="rect">
            <a:avLst/>
          </a:prstGeom>
          <a:noFill/>
          <a:ln/>
        </p:spPr>
        <p:txBody>
          <a:bodyPr wrap="square" lIns="0" tIns="0" rIns="0" bIns="0" rtlCol="0" anchor="ctr"/>
          <a:lstStyle/>
          <a:p>
            <a:pPr algn="ctr" indent="0" marL="0">
              <a:buNone/>
            </a:pPr>
            <a:r>
              <a:rPr lang="en-US" sz="1200" dirty="0">
                <a:solidFill>
                  <a:srgbClr val="566964"/>
                </a:solidFill>
                <a:latin typeface="Calibri" pitchFamily="34" charset="0"/>
                <a:ea typeface="Calibri" pitchFamily="34" charset="-122"/>
                <a:cs typeface="Calibri" pitchFamily="34" charset="-120"/>
              </a:rPr>
              <a:t>every function, what it does,</a:t>
            </a:r>
            <a:endParaRPr lang="en-US" sz="1200" dirty="0"/>
          </a:p>
          <a:p>
            <a:pPr algn="ctr" indent="0" marL="0">
              <a:buNone/>
            </a:pPr>
            <a:r>
              <a:rPr lang="en-US" sz="1200" dirty="0">
                <a:solidFill>
                  <a:srgbClr val="566964"/>
                </a:solidFill>
                <a:latin typeface="Calibri" pitchFamily="34" charset="0"/>
                <a:ea typeface="Calibri" pitchFamily="34" charset="-122"/>
                <a:cs typeface="Calibri" pitchFamily="34" charset="-120"/>
              </a:rPr>
              <a:t>and the line it lives on</a:t>
            </a:r>
            <a:endParaRPr lang="en-US" sz="1200" dirty="0"/>
          </a:p>
        </p:txBody>
      </p:sp>
      <p:sp>
        <p:nvSpPr>
          <p:cNvPr id="12" name="Shape 10"/>
          <p:cNvSpPr/>
          <p:nvPr/>
        </p:nvSpPr>
        <p:spPr>
          <a:xfrm>
            <a:off x="8915400" y="2423160"/>
            <a:ext cx="2606040" cy="1645920"/>
          </a:xfrm>
          <a:prstGeom prst="roundRect">
            <a:avLst>
              <a:gd name="adj" fmla="val 2778"/>
            </a:avLst>
          </a:prstGeom>
          <a:solidFill>
            <a:srgbClr val="FFFFFF"/>
          </a:solidFill>
          <a:ln w="12700">
            <a:solidFill>
              <a:srgbClr val="D2DBD8"/>
            </a:solidFill>
            <a:prstDash val="solid"/>
          </a:ln>
        </p:spPr>
      </p:sp>
      <p:sp>
        <p:nvSpPr>
          <p:cNvPr id="13" name="Text 11"/>
          <p:cNvSpPr txBox="1"/>
          <p:nvPr/>
        </p:nvSpPr>
        <p:spPr>
          <a:xfrm>
            <a:off x="9098280" y="2633472"/>
            <a:ext cx="2194560" cy="274320"/>
          </a:xfrm>
          <a:prstGeom prst="rect">
            <a:avLst/>
          </a:prstGeom>
          <a:noFill/>
          <a:ln/>
        </p:spPr>
        <p:txBody>
          <a:bodyPr wrap="square" lIns="0" tIns="0" rIns="0" bIns="0" rtlCol="0" anchor="ctr"/>
          <a:lstStyle/>
          <a:p>
            <a:pPr indent="0" marL="0">
              <a:buNone/>
            </a:pPr>
            <a:r>
              <a:rPr lang="en-US" sz="1400" b="1" dirty="0">
                <a:solidFill>
                  <a:srgbClr val="0E1F1C"/>
                </a:solidFill>
                <a:latin typeface="Calibri" pitchFamily="34" charset="0"/>
                <a:ea typeface="Calibri" pitchFamily="34" charset="-122"/>
                <a:cs typeface="Calibri" pitchFamily="34" charset="-120"/>
              </a:rPr>
              <a:t>An answer</a:t>
            </a:r>
            <a:endParaRPr lang="en-US" sz="1400" dirty="0"/>
          </a:p>
        </p:txBody>
      </p:sp>
      <p:sp>
        <p:nvSpPr>
          <p:cNvPr id="14" name="Text 12"/>
          <p:cNvSpPr txBox="1"/>
          <p:nvPr/>
        </p:nvSpPr>
        <p:spPr>
          <a:xfrm>
            <a:off x="9098280" y="2926080"/>
            <a:ext cx="2194560" cy="256032"/>
          </a:xfrm>
          <a:prstGeom prst="rect">
            <a:avLst/>
          </a:prstGeom>
          <a:noFill/>
          <a:ln/>
        </p:spPr>
        <p:txBody>
          <a:bodyPr wrap="square" lIns="0" tIns="0" rIns="0" bIns="0" rtlCol="0" anchor="ctr"/>
          <a:lstStyle/>
          <a:p>
            <a:pPr indent="0" marL="0">
              <a:buNone/>
            </a:pPr>
            <a:r>
              <a:rPr lang="en-US" sz="1200" dirty="0">
                <a:solidFill>
                  <a:srgbClr val="566964"/>
                </a:solidFill>
                <a:latin typeface="Calibri" pitchFamily="34" charset="0"/>
                <a:ea typeface="Calibri" pitchFamily="34" charset="-122"/>
                <a:cs typeface="Calibri" pitchFamily="34" charset="-120"/>
              </a:rPr>
              <a:t>in plain English</a:t>
            </a:r>
            <a:endParaRPr lang="en-US" sz="1200" dirty="0"/>
          </a:p>
        </p:txBody>
      </p:sp>
      <p:sp>
        <p:nvSpPr>
          <p:cNvPr id="15" name="Shape 13"/>
          <p:cNvSpPr/>
          <p:nvPr/>
        </p:nvSpPr>
        <p:spPr>
          <a:xfrm>
            <a:off x="9098280" y="3310128"/>
            <a:ext cx="2194560" cy="365760"/>
          </a:xfrm>
          <a:prstGeom prst="roundRect">
            <a:avLst>
              <a:gd name="adj" fmla="val 12500"/>
            </a:avLst>
          </a:prstGeom>
          <a:solidFill>
            <a:srgbClr val="F6E7CF"/>
          </a:solidFill>
          <a:ln w="12700">
            <a:solidFill>
              <a:srgbClr val="9C5C05"/>
            </a:solidFill>
            <a:prstDash val="solid"/>
          </a:ln>
        </p:spPr>
      </p:sp>
      <p:sp>
        <p:nvSpPr>
          <p:cNvPr id="16" name="Text 14"/>
          <p:cNvSpPr txBox="1"/>
          <p:nvPr/>
        </p:nvSpPr>
        <p:spPr>
          <a:xfrm>
            <a:off x="9098280" y="3310128"/>
            <a:ext cx="2194560" cy="365760"/>
          </a:xfrm>
          <a:prstGeom prst="rect">
            <a:avLst/>
          </a:prstGeom>
          <a:noFill/>
          <a:ln/>
        </p:spPr>
        <p:txBody>
          <a:bodyPr wrap="square" lIns="0" tIns="0" rIns="0" bIns="0" rtlCol="0" anchor="ctr"/>
          <a:lstStyle/>
          <a:p>
            <a:pPr algn="ctr" indent="0" marL="0">
              <a:buNone/>
            </a:pPr>
            <a:r>
              <a:rPr lang="en-US" sz="1150" b="1" dirty="0">
                <a:solidFill>
                  <a:srgbClr val="9C5C05"/>
                </a:solidFill>
                <a:latin typeface="Calibri" pitchFamily="34" charset="0"/>
                <a:ea typeface="Calibri" pitchFamily="34" charset="-122"/>
                <a:cs typeface="Calibri" pitchFamily="34" charset="-120"/>
              </a:rPr>
              <a:t>billing/charge.ts:212</a:t>
            </a:r>
            <a:endParaRPr lang="en-US" sz="1150" dirty="0"/>
          </a:p>
        </p:txBody>
      </p:sp>
      <p:sp>
        <p:nvSpPr>
          <p:cNvPr id="17" name="Shape 15"/>
          <p:cNvSpPr/>
          <p:nvPr/>
        </p:nvSpPr>
        <p:spPr>
          <a:xfrm>
            <a:off x="3063240" y="2697480"/>
            <a:ext cx="1417320" cy="0"/>
          </a:xfrm>
          <a:prstGeom prst="line">
            <a:avLst/>
          </a:prstGeom>
          <a:noFill/>
          <a:ln w="22225">
            <a:solidFill>
              <a:srgbClr val="5A6B67"/>
            </a:solidFill>
            <a:prstDash val="solid"/>
            <a:tailEnd type="triangle"/>
          </a:ln>
        </p:spPr>
      </p:sp>
      <p:sp>
        <p:nvSpPr>
          <p:cNvPr id="18" name="Text 16"/>
          <p:cNvSpPr txBox="1"/>
          <p:nvPr/>
        </p:nvSpPr>
        <p:spPr>
          <a:xfrm>
            <a:off x="2834640" y="2286000"/>
            <a:ext cx="1737360" cy="274320"/>
          </a:xfrm>
          <a:prstGeom prst="rect">
            <a:avLst/>
          </a:prstGeom>
          <a:noFill/>
          <a:ln/>
        </p:spPr>
        <p:txBody>
          <a:bodyPr wrap="square" lIns="0" tIns="0" rIns="0" bIns="0" rtlCol="0" anchor="ctr"/>
          <a:lstStyle/>
          <a:p>
            <a:pPr algn="ctr" indent="0" marL="0">
              <a:buNone/>
            </a:pPr>
            <a:r>
              <a:rPr lang="en-US" sz="1050" dirty="0">
                <a:solidFill>
                  <a:srgbClr val="566964"/>
                </a:solidFill>
                <a:latin typeface="Calibri" pitchFamily="34" charset="0"/>
                <a:ea typeface="Calibri" pitchFamily="34" charset="-122"/>
                <a:cs typeface="Calibri" pitchFamily="34" charset="-120"/>
              </a:rPr>
              <a:t>read after every push</a:t>
            </a:r>
            <a:endParaRPr lang="en-US" sz="1050" dirty="0"/>
          </a:p>
        </p:txBody>
      </p:sp>
      <p:sp>
        <p:nvSpPr>
          <p:cNvPr id="19" name="Shape 17"/>
          <p:cNvSpPr/>
          <p:nvPr/>
        </p:nvSpPr>
        <p:spPr>
          <a:xfrm>
            <a:off x="3063240" y="3794760"/>
            <a:ext cx="1417320" cy="0"/>
          </a:xfrm>
          <a:prstGeom prst="line">
            <a:avLst/>
          </a:prstGeom>
          <a:noFill/>
          <a:ln w="22225">
            <a:solidFill>
              <a:srgbClr val="5A6B67"/>
            </a:solidFill>
            <a:prstDash val="solid"/>
            <a:tailEnd type="triangle"/>
          </a:ln>
        </p:spPr>
      </p:sp>
      <p:sp>
        <p:nvSpPr>
          <p:cNvPr id="20" name="Text 18"/>
          <p:cNvSpPr txBox="1"/>
          <p:nvPr/>
        </p:nvSpPr>
        <p:spPr>
          <a:xfrm>
            <a:off x="2834640" y="3877056"/>
            <a:ext cx="1737360" cy="274320"/>
          </a:xfrm>
          <a:prstGeom prst="rect">
            <a:avLst/>
          </a:prstGeom>
          <a:noFill/>
          <a:ln/>
        </p:spPr>
        <p:txBody>
          <a:bodyPr wrap="square" lIns="0" tIns="0" rIns="0" bIns="0" rtlCol="0" anchor="ctr"/>
          <a:lstStyle/>
          <a:p>
            <a:pPr algn="ctr" indent="0" marL="0">
              <a:buNone/>
            </a:pPr>
            <a:r>
              <a:rPr lang="en-US" sz="1050" dirty="0">
                <a:solidFill>
                  <a:srgbClr val="566964"/>
                </a:solidFill>
                <a:latin typeface="Calibri" pitchFamily="34" charset="0"/>
                <a:ea typeface="Calibri" pitchFamily="34" charset="-122"/>
                <a:cs typeface="Calibri" pitchFamily="34" charset="-120"/>
              </a:rPr>
              <a:t>asks, in plain English</a:t>
            </a:r>
            <a:endParaRPr lang="en-US" sz="1050" dirty="0"/>
          </a:p>
        </p:txBody>
      </p:sp>
      <p:sp>
        <p:nvSpPr>
          <p:cNvPr id="21" name="Shape 19"/>
          <p:cNvSpPr/>
          <p:nvPr/>
        </p:nvSpPr>
        <p:spPr>
          <a:xfrm>
            <a:off x="7498080" y="3246120"/>
            <a:ext cx="1325880" cy="0"/>
          </a:xfrm>
          <a:prstGeom prst="line">
            <a:avLst/>
          </a:prstGeom>
          <a:noFill/>
          <a:ln w="22225">
            <a:solidFill>
              <a:srgbClr val="5A6B67"/>
            </a:solidFill>
            <a:prstDash val="solid"/>
            <a:tailEnd type="triangle"/>
          </a:ln>
        </p:spPr>
      </p:sp>
      <p:sp>
        <p:nvSpPr>
          <p:cNvPr id="22" name="Text 20"/>
          <p:cNvSpPr txBox="1"/>
          <p:nvPr/>
        </p:nvSpPr>
        <p:spPr>
          <a:xfrm>
            <a:off x="7452360" y="2816352"/>
            <a:ext cx="1371600" cy="274320"/>
          </a:xfrm>
          <a:prstGeom prst="rect">
            <a:avLst/>
          </a:prstGeom>
          <a:noFill/>
          <a:ln/>
        </p:spPr>
        <p:txBody>
          <a:bodyPr wrap="square" lIns="0" tIns="0" rIns="0" bIns="0" rtlCol="0" anchor="ctr"/>
          <a:lstStyle/>
          <a:p>
            <a:pPr algn="ctr" indent="0" marL="0">
              <a:buNone/>
            </a:pPr>
            <a:r>
              <a:rPr lang="en-US" sz="1050" dirty="0">
                <a:solidFill>
                  <a:srgbClr val="566964"/>
                </a:solidFill>
                <a:latin typeface="Calibri" pitchFamily="34" charset="0"/>
                <a:ea typeface="Calibri" pitchFamily="34" charset="-122"/>
                <a:cs typeface="Calibri" pitchFamily="34" charset="-120"/>
              </a:rPr>
              <a:t>with the receipts</a:t>
            </a:r>
            <a:endParaRPr lang="en-US" sz="1050" dirty="0"/>
          </a:p>
        </p:txBody>
      </p:sp>
      <p:sp>
        <p:nvSpPr>
          <p:cNvPr id="23" name="Text 21"/>
          <p:cNvSpPr txBox="1"/>
          <p:nvPr/>
        </p:nvSpPr>
        <p:spPr>
          <a:xfrm>
            <a:off x="640080" y="5074920"/>
            <a:ext cx="10881360" cy="822960"/>
          </a:xfrm>
          <a:prstGeom prst="rect">
            <a:avLst/>
          </a:prstGeom>
          <a:noFill/>
          <a:ln/>
        </p:spPr>
        <p:txBody>
          <a:bodyPr wrap="square" lIns="0" tIns="0" rIns="0" bIns="0" rtlCol="0" anchor="ctr"/>
          <a:lstStyle/>
          <a:p>
            <a:pPr indent="0" marL="0">
              <a:buNone/>
            </a:pPr>
            <a:r>
              <a:rPr lang="en-US" sz="1300" dirty="0">
                <a:solidFill>
                  <a:srgbClr val="566964"/>
                </a:solidFill>
                <a:latin typeface="Calibri" pitchFamily="34" charset="0"/>
                <a:ea typeface="Calibri" pitchFamily="34" charset="-122"/>
                <a:cs typeface="Calibri" pitchFamily="34" charset="-120"/>
              </a:rPr>
              <a:t>What leaves a repository is a structured description of the code — signatures, doc comments, what calls what — not the source itself, unless a team chooses otherwise. It is signed on the way out, and the build pipeline that produces it holds no credentials.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F1C"/>
        </a:solidFill>
      </p:bgPr>
    </p:bg>
    <p:spTree>
      <p:nvGrpSpPr>
        <p:cNvPr id="1" name=""/>
        <p:cNvGrpSpPr/>
        <p:nvPr/>
      </p:nvGrpSpPr>
      <p:grpSpPr>
        <a:xfrm>
          <a:off x="0" y="0"/>
          <a:ext cx="0" cy="0"/>
          <a:chOff x="0" y="0"/>
          <a:chExt cx="0" cy="0"/>
        </a:xfrm>
      </p:grpSpPr>
      <p:sp>
        <p:nvSpPr>
          <p:cNvPr id="2" name="Text 0"/>
          <p:cNvSpPr txBox="1"/>
          <p:nvPr/>
        </p:nvSpPr>
        <p:spPr>
          <a:xfrm>
            <a:off x="640080" y="548640"/>
            <a:ext cx="1088136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It works today</a:t>
            </a:r>
            <a:endParaRPr lang="en-US" sz="4000" dirty="0"/>
          </a:p>
        </p:txBody>
      </p:sp>
      <p:sp>
        <p:nvSpPr>
          <p:cNvPr id="3" name="Text 1"/>
          <p:cNvSpPr txBox="1"/>
          <p:nvPr/>
        </p:nvSpPr>
        <p:spPr>
          <a:xfrm>
            <a:off x="640080" y="1371600"/>
            <a:ext cx="10058400" cy="365760"/>
          </a:xfrm>
          <a:prstGeom prst="rect">
            <a:avLst/>
          </a:prstGeom>
          <a:noFill/>
          <a:ln/>
        </p:spPr>
        <p:txBody>
          <a:bodyPr wrap="square" lIns="0" tIns="0" rIns="0" bIns="0" rtlCol="0" anchor="ctr"/>
          <a:lstStyle/>
          <a:p>
            <a:pPr indent="0" marL="0">
              <a:buNone/>
            </a:pPr>
            <a:r>
              <a:rPr lang="en-US" sz="1600" dirty="0">
                <a:solidFill>
                  <a:srgbClr val="93A79F"/>
                </a:solidFill>
                <a:latin typeface="Calibri" pitchFamily="34" charset="0"/>
                <a:ea typeface="Calibri" pitchFamily="34" charset="-122"/>
                <a:cs typeface="Calibri" pitchFamily="34" charset="-120"/>
              </a:rPr>
              <a:t>Running end to end on a laptop, in Docker — not a prototype, and not finished either.</a:t>
            </a:r>
            <a:endParaRPr lang="en-US" sz="1600" dirty="0"/>
          </a:p>
        </p:txBody>
      </p:sp>
      <p:sp>
        <p:nvSpPr>
          <p:cNvPr id="4" name="Text 2"/>
          <p:cNvSpPr txBox="1"/>
          <p:nvPr/>
        </p:nvSpPr>
        <p:spPr>
          <a:xfrm>
            <a:off x="640080" y="2057400"/>
            <a:ext cx="5029200" cy="274320"/>
          </a:xfrm>
          <a:prstGeom prst="rect">
            <a:avLst/>
          </a:prstGeom>
          <a:noFill/>
          <a:ln/>
        </p:spPr>
        <p:txBody>
          <a:bodyPr wrap="square" lIns="0" tIns="0" rIns="0" bIns="0" rtlCol="0" anchor="ctr"/>
          <a:lstStyle/>
          <a:p>
            <a:pPr indent="0" marL="0">
              <a:buNone/>
            </a:pPr>
            <a:r>
              <a:rPr lang="en-US" sz="1100" b="1" spc="250" kern="0" dirty="0">
                <a:solidFill>
                  <a:srgbClr val="E0A44C"/>
                </a:solidFill>
                <a:latin typeface="Calibri" pitchFamily="34" charset="0"/>
                <a:ea typeface="Calibri" pitchFamily="34" charset="-122"/>
                <a:cs typeface="Calibri" pitchFamily="34" charset="-120"/>
              </a:rPr>
              <a:t>WORKING NOW</a:t>
            </a:r>
            <a:endParaRPr lang="en-US" sz="1100" dirty="0"/>
          </a:p>
        </p:txBody>
      </p:sp>
      <p:sp>
        <p:nvSpPr>
          <p:cNvPr id="5" name="Text 3"/>
          <p:cNvSpPr txBox="1"/>
          <p:nvPr/>
        </p:nvSpPr>
        <p:spPr>
          <a:xfrm>
            <a:off x="640080" y="2468880"/>
            <a:ext cx="5029200" cy="274320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Analyse, publish, index and answer — the whole loop</a:t>
            </a:r>
            <a:endParaRPr lang="en-US" sz="1400" dirty="0"/>
          </a:p>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In the editor over MCP, plus a terminal and an admin console</a:t>
            </a:r>
            <a:endParaRPr lang="en-US" sz="1400" dirty="0"/>
          </a:p>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Documentation regenerated and opened as pull requests</a:t>
            </a:r>
            <a:endParaRPr lang="en-US" sz="1400" dirty="0"/>
          </a:p>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Tenant isolation and permissions enforced in the database</a:t>
            </a:r>
            <a:endParaRPr lang="en-US" sz="1400" dirty="0"/>
          </a:p>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Two repositories and about 2,570 functions indexed</a:t>
            </a:r>
            <a:endParaRPr lang="en-US" sz="1400" dirty="0"/>
          </a:p>
        </p:txBody>
      </p:sp>
      <p:sp>
        <p:nvSpPr>
          <p:cNvPr id="6" name="Text 4"/>
          <p:cNvSpPr txBox="1"/>
          <p:nvPr/>
        </p:nvSpPr>
        <p:spPr>
          <a:xfrm>
            <a:off x="6492240" y="2057400"/>
            <a:ext cx="5029200" cy="274320"/>
          </a:xfrm>
          <a:prstGeom prst="rect">
            <a:avLst/>
          </a:prstGeom>
          <a:noFill/>
          <a:ln/>
        </p:spPr>
        <p:txBody>
          <a:bodyPr wrap="square" lIns="0" tIns="0" rIns="0" bIns="0" rtlCol="0" anchor="ctr"/>
          <a:lstStyle/>
          <a:p>
            <a:pPr indent="0" marL="0">
              <a:buNone/>
            </a:pPr>
            <a:r>
              <a:rPr lang="en-US" sz="1100" b="1" spc="250" kern="0" dirty="0">
                <a:solidFill>
                  <a:srgbClr val="93A79F"/>
                </a:solidFill>
                <a:latin typeface="Calibri" pitchFamily="34" charset="0"/>
                <a:ea typeface="Calibri" pitchFamily="34" charset="-122"/>
                <a:cs typeface="Calibri" pitchFamily="34" charset="-120"/>
              </a:rPr>
              <a:t>NOT YET</a:t>
            </a:r>
            <a:endParaRPr lang="en-US" sz="1100" dirty="0"/>
          </a:p>
        </p:txBody>
      </p:sp>
      <p:sp>
        <p:nvSpPr>
          <p:cNvPr id="7" name="Text 5"/>
          <p:cNvSpPr txBox="1"/>
          <p:nvPr/>
        </p:nvSpPr>
        <p:spPr>
          <a:xfrm>
            <a:off x="6492240" y="2468880"/>
            <a:ext cx="5029200" cy="274320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Deep analysis for Python and C# — TypeScript only today</a:t>
            </a:r>
            <a:endParaRPr lang="en-US" sz="1400" dirty="0"/>
          </a:p>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The retrieval quality gate: the metrics exist, the runner does not</a:t>
            </a:r>
            <a:endParaRPr lang="en-US" sz="1400" dirty="0"/>
          </a:p>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Single sign-on — today it is API tokens</a:t>
            </a:r>
            <a:endParaRPr lang="en-US" sz="1400" dirty="0"/>
          </a:p>
          <a:p>
            <a:pPr marL="342900" indent="-342900">
              <a:lnSpc>
                <a:spcPct val="10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Cost per repository, measured against a real codebase</a:t>
            </a:r>
            <a:endParaRPr lang="en-US" sz="1400" dirty="0"/>
          </a:p>
        </p:txBody>
      </p:sp>
      <p:sp>
        <p:nvSpPr>
          <p:cNvPr id="8" name="Shape 6"/>
          <p:cNvSpPr/>
          <p:nvPr/>
        </p:nvSpPr>
        <p:spPr>
          <a:xfrm>
            <a:off x="640080" y="5486400"/>
            <a:ext cx="10881360" cy="914400"/>
          </a:xfrm>
          <a:prstGeom prst="roundRect">
            <a:avLst>
              <a:gd name="adj" fmla="val 6000"/>
            </a:avLst>
          </a:prstGeom>
          <a:solidFill>
            <a:srgbClr val="17302B"/>
          </a:solidFill>
          <a:ln w="15875">
            <a:solidFill>
              <a:srgbClr val="9C5C05"/>
            </a:solidFill>
            <a:prstDash val="solid"/>
          </a:ln>
        </p:spPr>
      </p:sp>
      <p:sp>
        <p:nvSpPr>
          <p:cNvPr id="9" name="Text 7"/>
          <p:cNvSpPr txBox="1"/>
          <p:nvPr/>
        </p:nvSpPr>
        <p:spPr>
          <a:xfrm>
            <a:off x="960120" y="5623560"/>
            <a:ext cx="3657600" cy="256032"/>
          </a:xfrm>
          <a:prstGeom prst="rect">
            <a:avLst/>
          </a:prstGeom>
          <a:noFill/>
          <a:ln/>
        </p:spPr>
        <p:txBody>
          <a:bodyPr wrap="square" lIns="0" tIns="0" rIns="0" bIns="0" rtlCol="0" anchor="ctr"/>
          <a:lstStyle/>
          <a:p>
            <a:pPr indent="0" marL="0">
              <a:buNone/>
            </a:pPr>
            <a:r>
              <a:rPr lang="en-US" sz="1000" b="1" spc="200" kern="0" dirty="0">
                <a:solidFill>
                  <a:srgbClr val="E0A44C"/>
                </a:solidFill>
                <a:latin typeface="Calibri" pitchFamily="34" charset="0"/>
                <a:ea typeface="Calibri" pitchFamily="34" charset="-122"/>
                <a:cs typeface="Calibri" pitchFamily="34" charset="-120"/>
              </a:rPr>
              <a:t>WHAT WE ARE ASKING FOR</a:t>
            </a:r>
            <a:endParaRPr lang="en-US" sz="1000" dirty="0"/>
          </a:p>
        </p:txBody>
      </p:sp>
      <p:sp>
        <p:nvSpPr>
          <p:cNvPr id="10" name="Text 8"/>
          <p:cNvSpPr txBox="1"/>
          <p:nvPr/>
        </p:nvSpPr>
        <p:spPr>
          <a:xfrm>
            <a:off x="960120" y="5897880"/>
            <a:ext cx="1024128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One team, one repository, two weeks — and an honest answer about whether it saved you time.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KNA</dc:title>
  <dc:subject>PptxGenJS Presentation</dc:subject>
  <dc:creator>KNA</dc:creator>
  <cp:lastModifiedBy>KNA</cp:lastModifiedBy>
  <cp:revision>1</cp:revision>
  <dcterms:created xsi:type="dcterms:W3CDTF">2026-08-26T05:19:47Z</dcterms:created>
  <dcterms:modified xsi:type="dcterms:W3CDTF">2026-08-26T05:19:47Z</dcterms:modified>
</cp:coreProperties>
</file>